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5B586-029D-434B-B67C-C327627191D7}" v="2" dt="2026-10-07T15:30:31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pradeep Emmadisetty" userId="2f8c9a91fd131349" providerId="LiveId" clId="{5739B1FA-D665-4622-96BD-AA43FA15D3C4}"/>
    <pc:docChg chg="modSld">
      <pc:chgData name="kumar pradeep Emmadisetty" userId="2f8c9a91fd131349" providerId="LiveId" clId="{5739B1FA-D665-4622-96BD-AA43FA15D3C4}" dt="2026-10-07T15:30:31.578" v="1"/>
      <pc:docMkLst>
        <pc:docMk/>
      </pc:docMkLst>
      <pc:sldChg chg="modSp">
        <pc:chgData name="kumar pradeep Emmadisetty" userId="2f8c9a91fd131349" providerId="LiveId" clId="{5739B1FA-D665-4622-96BD-AA43FA15D3C4}" dt="2026-10-07T15:30:31.578" v="1"/>
        <pc:sldMkLst>
          <pc:docMk/>
          <pc:sldMk cId="0" sldId="257"/>
        </pc:sldMkLst>
        <pc:spChg chg="mod">
          <ac:chgData name="kumar pradeep Emmadisetty" userId="2f8c9a91fd131349" providerId="LiveId" clId="{5739B1FA-D665-4622-96BD-AA43FA15D3C4}" dt="2026-10-07T15:30:31.578" v="1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kumar pradeep Emmadisetty" userId="2f8c9a91fd131349" providerId="LiveId" clId="{5739B1FA-D665-4622-96BD-AA43FA15D3C4}" dt="2026-10-07T15:29:17.373" v="0"/>
          <ac:spMkLst>
            <pc:docMk/>
            <pc:sldMk cId="0" sldId="257"/>
            <ac:spMk id="1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2600" b="1">
                <a:solidFill>
                  <a:srgbClr val="1C1C1F"/>
                </a:solidFill>
                <a:latin typeface="Aptos"/>
              </a:rPr>
              <a:t>World Wide Energy Consumption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251960" y="475488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51F27"/>
                </a:solidFill>
                <a:latin typeface="Aptos"/>
              </a:rPr>
              <a:t>SQL PROJECT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94560" y="5138928"/>
            <a:ext cx="65836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it-IT" sz="1100" b="1" dirty="0">
                <a:solidFill>
                  <a:srgbClr val="1C1C1F"/>
                </a:solidFill>
                <a:latin typeface="Aptos"/>
              </a:rPr>
              <a:t>Kumar Pradeep•  CSE   •  2023–2027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3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E51F27"/>
                </a:solidFill>
                <a:latin typeface="Aptos"/>
              </a:rPr>
              <a:t>About Me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5C62"/>
                </a:solidFill>
                <a:latin typeface="Aptos"/>
              </a:rPr>
              <a:t>Profile details for project presentation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94360" y="1508760"/>
            <a:ext cx="51663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5989320" y="1508760"/>
            <a:ext cx="4617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868680" y="1783080"/>
            <a:ext cx="196596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14400" y="1801368"/>
            <a:ext cx="1874519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E51F27"/>
                </a:solidFill>
                <a:latin typeface="Aptos"/>
              </a:rPr>
              <a:t>ACADEMIC BACKGROUND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2212848"/>
            <a:ext cx="4389120" cy="4462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2300" b="1" dirty="0">
                <a:solidFill>
                  <a:srgbClr val="1C1C1F"/>
                </a:solidFill>
                <a:latin typeface="Aptos"/>
              </a:rPr>
              <a:t>Emmadisetty Kumar pradeep</a:t>
            </a:r>
            <a:endParaRPr sz="2300" b="1" dirty="0">
              <a:solidFill>
                <a:srgbClr val="1C1C1F"/>
              </a:solidFill>
              <a:latin typeface="Apto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68680" y="2697480"/>
            <a:ext cx="43891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dirty="0" err="1">
                <a:solidFill>
                  <a:srgbClr val="E51F27"/>
                </a:solidFill>
                <a:latin typeface="Aptos"/>
              </a:rPr>
              <a:t>B.Tech</a:t>
            </a:r>
            <a:r>
              <a:rPr sz="1500" b="1" dirty="0">
                <a:solidFill>
                  <a:srgbClr val="E51F27"/>
                </a:solidFill>
                <a:latin typeface="Aptos"/>
              </a:rPr>
              <a:t> in CSE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80" y="3090672"/>
            <a:ext cx="443484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1300" b="0" dirty="0" err="1">
                <a:solidFill>
                  <a:srgbClr val="1C1C1F"/>
                </a:solidFill>
                <a:latin typeface="Aptos"/>
              </a:rPr>
              <a:t>Narasaraopeta</a:t>
            </a:r>
            <a:r>
              <a:rPr lang="en-IN" sz="1300" b="0" dirty="0">
                <a:solidFill>
                  <a:srgbClr val="1C1C1F"/>
                </a:solidFill>
                <a:latin typeface="Aptos"/>
              </a:rPr>
              <a:t> Engineering college , Narasaraopet</a:t>
            </a:r>
            <a:endParaRPr sz="1300" b="0" dirty="0">
              <a:solidFill>
                <a:srgbClr val="1C1C1F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68680" y="3547872"/>
            <a:ext cx="32004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C5C62"/>
                </a:solidFill>
                <a:latin typeface="Aptos"/>
              </a:rPr>
              <a:t>Batch: 202</a:t>
            </a:r>
            <a:r>
              <a:rPr lang="en-IN" sz="1300" b="0" dirty="0">
                <a:solidFill>
                  <a:srgbClr val="5C5C62"/>
                </a:solidFill>
                <a:latin typeface="Aptos"/>
              </a:rPr>
              <a:t>3</a:t>
            </a:r>
            <a:r>
              <a:rPr sz="1300" b="0" dirty="0">
                <a:solidFill>
                  <a:srgbClr val="5C5C62"/>
                </a:solidFill>
                <a:latin typeface="Aptos"/>
              </a:rPr>
              <a:t>–202</a:t>
            </a:r>
            <a:r>
              <a:rPr lang="en-IN" sz="1300" b="0" dirty="0">
                <a:solidFill>
                  <a:srgbClr val="5C5C62"/>
                </a:solidFill>
                <a:latin typeface="Aptos"/>
              </a:rPr>
              <a:t>7</a:t>
            </a:r>
            <a:endParaRPr sz="1300" b="0" dirty="0">
              <a:solidFill>
                <a:srgbClr val="5C5C62"/>
              </a:solidFill>
              <a:latin typeface="Aptos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6263640" y="1783080"/>
            <a:ext cx="164592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309359" y="1801368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>
                <a:solidFill>
                  <a:srgbClr val="E51F27"/>
                </a:solidFill>
                <a:latin typeface="Aptos"/>
              </a:rPr>
              <a:t>WHY DATA SCIENCE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63640" y="2240280"/>
            <a:ext cx="384048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C1C1F"/>
                </a:solidFill>
                <a:latin typeface="Aptos"/>
              </a:rPr>
              <a:t>To turn structured data into useful insights and make better data-driven decisions.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3640" y="338328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C5C62"/>
                </a:solidFill>
                <a:latin typeface="Aptos"/>
              </a:rPr>
              <a:t>Current focus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63640" y="3703320"/>
            <a:ext cx="388620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C1F"/>
                </a:solidFill>
                <a:latin typeface="Aptos"/>
              </a:defRPr>
            </a:pPr>
            <a:r>
              <a:t>•  SQL &amp; database analysis</a:t>
            </a:r>
          </a:p>
          <a:p>
            <a:pPr>
              <a:spcAft>
                <a:spcPts val="400"/>
              </a:spcAft>
              <a:defRPr sz="1300">
                <a:solidFill>
                  <a:srgbClr val="1C1C1F"/>
                </a:solidFill>
                <a:latin typeface="Aptos"/>
              </a:defRPr>
            </a:pPr>
            <a:r>
              <a:t>•  Power BI &amp; data visualization</a:t>
            </a:r>
          </a:p>
          <a:p>
            <a:pPr>
              <a:spcAft>
                <a:spcPts val="400"/>
              </a:spcAft>
              <a:defRPr sz="1300">
                <a:solidFill>
                  <a:srgbClr val="1C1C1F"/>
                </a:solidFill>
                <a:latin typeface="Aptos"/>
              </a:defRPr>
            </a:pPr>
            <a:r>
              <a:t>•  Python for data analysis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" y="4224528"/>
            <a:ext cx="777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C5C62"/>
                </a:solidFill>
                <a:latin typeface="Aptos"/>
              </a:rPr>
              <a:t>LinkedIn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00200" y="4187952"/>
            <a:ext cx="37947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000">
                <a:solidFill>
                  <a:srgbClr val="1C1C1F"/>
                </a:solidFill>
                <a:latin typeface="Aptos"/>
              </a:rPr>
              <a:t>https://www.linkedin.com/in/kumar-pradeep-emmadisetty-6921543a7</a:t>
            </a:r>
            <a:endParaRPr sz="1000" b="0" dirty="0">
              <a:solidFill>
                <a:srgbClr val="1C1C1F"/>
              </a:solidFill>
              <a:latin typeface="Aptos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68680" y="4663440"/>
            <a:ext cx="731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5C5C62"/>
                </a:solidFill>
                <a:latin typeface="Aptos"/>
              </a:rPr>
              <a:t>GitHub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00200" y="4626864"/>
            <a:ext cx="379476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000" dirty="0">
                <a:solidFill>
                  <a:srgbClr val="1C1C1F"/>
                </a:solidFill>
                <a:latin typeface="Aptos"/>
              </a:rPr>
              <a:t>https://github.com/kumarpradeep05</a:t>
            </a:r>
            <a:endParaRPr sz="1000" b="0" dirty="0">
              <a:solidFill>
                <a:srgbClr val="1C1C1F"/>
              </a:solidFill>
              <a:latin typeface="Apto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E51F27"/>
                </a:solidFill>
                <a:latin typeface="Aptos"/>
              </a:rPr>
              <a:t>02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49011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E51F27"/>
                </a:solidFill>
                <a:latin typeface="Aptos"/>
              </a:rPr>
              <a:t>PROJECT EXPERIENCE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09360" y="5193792"/>
            <a:ext cx="3794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>
                <a:solidFill>
                  <a:srgbClr val="1C1C1F"/>
                </a:solidFill>
                <a:latin typeface="Aptos"/>
              </a:rPr>
              <a:t>SQL analysis • Power BI dashboards • Python data practice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E51F27"/>
                </a:solidFill>
                <a:latin typeface="Aptos"/>
              </a:rPr>
              <a:t>Agenda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5C5C62"/>
                </a:solidFill>
                <a:latin typeface="Aptos"/>
              </a:rPr>
              <a:t>Project flow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85800" y="160020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50392" y="1728216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35607" y="1719072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Introduction &amp; Business Context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85800" y="2542032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50392" y="267004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35607" y="2660904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Objectives &amp; Dataset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85800" y="3483864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50392" y="361188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35607" y="3602736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Database Structure &amp; ER Diagram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85800" y="4425696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50392" y="455371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35607" y="4544568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SQL Approach &amp; Key Concepts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17920" y="1600200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382512" y="1728216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67728" y="1719072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Analysis Questions / Use Cases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17920" y="2542032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382512" y="267004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967728" y="2660904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Analysis Areas &amp; Business Insights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17920" y="3483864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382512" y="3611880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67728" y="3602736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Conclusion, Challenges &amp; Future Improvements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17920" y="4425696"/>
            <a:ext cx="4983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382512" y="455371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51F27"/>
                </a:solidFill>
                <a:latin typeface="Aptos"/>
              </a:rPr>
              <a:t>08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67728" y="4544568"/>
            <a:ext cx="393192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C1C1F"/>
                </a:solidFill>
                <a:latin typeface="Aptos"/>
              </a:rPr>
              <a:t>Q&amp;A / Thank You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E51F2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1. Introduction &amp; Business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What the project studies and why the data is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C1C1F"/>
                </a:solidFill>
                <a:latin typeface="Aptos"/>
              </a:rPr>
              <a:t>World Wide Energy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50292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>
                <a:solidFill>
                  <a:srgbClr val="5C5C62"/>
                </a:solidFill>
                <a:latin typeface="Aptos"/>
              </a:rPr>
              <a:t>A relational SQL analysis that brings together energy, economic, population and emission data across countries and years.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63240"/>
            <a:ext cx="3401568" cy="1965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200400"/>
            <a:ext cx="3072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575304"/>
            <a:ext cx="3072384" cy="134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C1C1F"/>
                </a:solidFill>
                <a:latin typeface="Aptos"/>
              </a:rPr>
              <a:t>Consumption and production can be compared by country, energy type and year.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063240"/>
            <a:ext cx="3401568" cy="1965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3200400"/>
            <a:ext cx="3072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ECONOMY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3575304"/>
            <a:ext cx="3072384" cy="134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C1C1F"/>
                </a:solidFill>
                <a:latin typeface="Aptos"/>
              </a:rPr>
              <a:t>GDP provides the economic context for understanding energy use and intensity.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63240"/>
            <a:ext cx="3401568" cy="1965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3200400"/>
            <a:ext cx="3072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575304"/>
            <a:ext cx="3072384" cy="134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C1C1F"/>
                </a:solidFill>
                <a:latin typeface="Aptos"/>
              </a:rPr>
              <a:t>Emissions can be studied as totals, per-capita values and country contributions.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3095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C5C62"/>
                </a:solidFill>
                <a:latin typeface="Aptos"/>
              </a:rPr>
              <a:t>Data source: EIA organization, as stated in the project brief. The analysis is designed to turn the raw tables into a connected analytical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2. Business Problem &amp;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From scattered energy data to a structured analytical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90472"/>
            <a:ext cx="5230368" cy="3429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49011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51F27"/>
                </a:solidFill>
                <a:latin typeface="Aptos"/>
              </a:rP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4901183" cy="2807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C1C1F"/>
                </a:solidFill>
                <a:latin typeface="Aptos"/>
              </a:rPr>
              <a:t>•  Energy, emissions, GDP and population are stored in separate but related datasets.
•  A meaningful comparison requires consistent country and year alignment.
•  Total values show scale, while normalized measures are needed to compare intensity and efficiency.
•  The final analysis should explain patterns, not only return database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90472"/>
            <a:ext cx="5230368" cy="3429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627631"/>
            <a:ext cx="490118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51F27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002536"/>
            <a:ext cx="4901183" cy="2807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1C1C1F"/>
                </a:solidFill>
                <a:latin typeface="Aptos"/>
              </a:rPr>
              <a:t>•  Build and work with a six-table MySQL database.
•  Link the analytical tables through the country reference table.
•  Compare consumption, production, GDP, population and emissions.
•  Examine trends, growth changes, ratios and per-capita measures.
•  Translate the analysis into clear business/environmental insights.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3036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1C1F"/>
                </a:solidFill>
                <a:latin typeface="Aptos"/>
              </a:rPr>
              <a:t>Core analytical idea: combine scale + change over time + normalized metrics to understand energy patterns more completely.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E51F27"/>
                </a:solidFill>
                <a:latin typeface="Aptos"/>
              </a:rPr>
              <a:t>3. Dataset / Database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Six CSV files imported into ENERGYDB2 • Source: EIA organization (as stated in the brief)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50876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anchor="ctr">
                    <a:solidFill>
                      <a:srgbClr val="E51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Important columns</a:t>
                      </a:r>
                    </a:p>
                  </a:txBody>
                  <a:tcPr anchor="ctr">
                    <a:solidFill>
                      <a:srgbClr val="E51F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Analytical role</a:t>
                      </a:r>
                    </a:p>
                  </a:txBody>
                  <a:tcPr anchor="ctr">
                    <a:solidFill>
                      <a:srgbClr val="E5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CID, 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Central reference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emission_3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country, energy_type, year, emission, per_capita_emission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Emission by energy type and year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population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countries, year,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Country population by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production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country, energy, year, production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Energy production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gdp_3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Country, year, Value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GDP by country and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C1C1F"/>
                          </a:solidFill>
                          <a:latin typeface="Aptos"/>
                        </a:rPr>
                        <a:t>consumption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country, energy, year, consumption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F"/>
                          </a:solidFill>
                          <a:latin typeface="Aptos"/>
                        </a:rPr>
                        <a:t>Energy consumption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989320"/>
            <a:ext cx="7772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50" b="1">
                <a:solidFill>
                  <a:srgbClr val="1C1C1F"/>
                </a:solidFill>
                <a:latin typeface="Aptos"/>
              </a:rPr>
              <a:t>Relationship pattern: country (1) → many rows in each analytical table; year is the common time dimension.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E51F2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E51F27"/>
                </a:solidFill>
                <a:latin typeface="Aptos"/>
              </a:rPr>
              <a:t>4. Database Structure &amp; Schema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C5C62"/>
                </a:solidFill>
                <a:latin typeface="Aptos"/>
              </a:rPr>
              <a:t>Project ER diagram — the country table acts as the central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6903720" cy="48188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481328"/>
            <a:ext cx="36576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618488"/>
            <a:ext cx="33284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CENTRAL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993392"/>
            <a:ext cx="332841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1C1F"/>
                </a:solidFill>
                <a:latin typeface="Aptos"/>
              </a:rPr>
              <a:t>country stores the master country list and provides the reference for the five analytical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063240"/>
            <a:ext cx="3657600" cy="148132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2" y="3200400"/>
            <a:ext cx="33284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3575304"/>
            <a:ext cx="3328416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C1C1F"/>
                </a:solidFill>
                <a:latin typeface="Aptos"/>
              </a:rPr>
              <a:t>The schema shows one-to-many links from country to emission, population, production, GDP and consumption.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754880"/>
            <a:ext cx="3657600" cy="93268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4892040"/>
            <a:ext cx="33284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JOIN GRAIN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5266944"/>
            <a:ext cx="33284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1C1C1F"/>
                </a:solidFill>
                <a:latin typeface="Aptos"/>
              </a:rPr>
              <a:t>Country + year; energy type is added when comparing production and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5. SQL Analysis Approach &amp; 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How the database is turned into comparable analytical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91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572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Create &amp;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65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Create ENERGYDB2 and load the six CSV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481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9976" y="1591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1572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Relate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1865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Use the country reference to connect subject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24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734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715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Align grain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008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Match country/year and, when needed, energy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624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9976" y="2734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6" y="2715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6" y="3008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Summarize totals, averages and rankings for comparison.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767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3877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3858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Analyze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151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Use year-wise logic and LAG() to study movement over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3767328"/>
            <a:ext cx="3246120" cy="932688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9976" y="3877056"/>
            <a:ext cx="4389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3858768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C1C1F"/>
                </a:solidFill>
                <a:latin typeface="Aptos"/>
              </a:rPr>
              <a:t>Interpret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6" y="4151376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5C62"/>
                </a:solidFill>
                <a:latin typeface="Aptos"/>
              </a:rPr>
              <a:t>Translate each analytical view into a meaningful project insight.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14813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E51F27"/>
                </a:solidFill>
                <a:latin typeface="Aptos"/>
              </a:rPr>
              <a:t>KEY SQL CONCEPTS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177393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JOIN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77393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Combines related country/year records.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44144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GROUP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4414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Builds country, energy-type and year summaries.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10896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AGGREGATES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1089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SUM, AVG and MAX support scale and ranking.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776472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SUBQUERIES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7764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Find the latest available year dynamically.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443983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WINDOW FUNCTIONS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443983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LAG compares a row with the prior year.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511149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E51F27"/>
                </a:solidFill>
                <a:latin typeface="Aptos"/>
              </a:rPr>
              <a:t>CTE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11149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C1C1F"/>
                </a:solidFill>
                <a:latin typeface="Aptos"/>
              </a:rPr>
              <a:t>Breaks a multi-stage yearly analysis into a clear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6. Key Analysis Questions /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The 17 questions are organized into four analytical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90472"/>
            <a:ext cx="5257800" cy="1874519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GENERAL &amp; COMPARATIVE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4928616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C1C1F"/>
                </a:solidFill>
                <a:latin typeface="Aptos"/>
              </a:rPr>
              <a:t>•  Latest-year emissions by country
•  Top countries by GDP
•  Production vs consumption
•  Energy types contributing most to emissions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90472"/>
            <a:ext cx="5257800" cy="1874519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7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TREND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002536"/>
            <a:ext cx="4928616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0" b="0">
                <a:solidFill>
                  <a:srgbClr val="1C1C1F"/>
                </a:solidFill>
                <a:latin typeface="Aptos"/>
              </a:rPr>
              <a:t>•  Global emissions year over year
•  GDP trend by country
•  Population growth alongside emissions
•  Consumption changes for major economies
•  Yearly per-capita emission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5257800" cy="1874519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794760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RATIO &amp; PER-CAPITA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169664"/>
            <a:ext cx="4928616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C1C1F"/>
                </a:solidFill>
                <a:latin typeface="Aptos"/>
              </a:rPr>
              <a:t>•  Emission-to-GDP ratio
•  Consumption per capita
•  Production per capita
•  Energy consumption relative to GDP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657600"/>
            <a:ext cx="5257800" cy="1874519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79" y="3794760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GLOBAL COMPARISONS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4169664"/>
            <a:ext cx="4928616" cy="12527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0" b="0">
                <a:solidFill>
                  <a:srgbClr val="1C1C1F"/>
                </a:solidFill>
                <a:latin typeface="Aptos"/>
              </a:rPr>
              <a:t>•  GDP growth vs production growth
•  Top 10 population and emissions
•  Per-capita emission improvement
•  Global emission share
•  Global yearly averages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7. Analysis Area I — General &amp; Comparative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What the analysis establishes before looking at change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90472"/>
            <a:ext cx="5257800" cy="1627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LATEST-YEAR EMISSION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492861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C1C1F"/>
                </a:solidFill>
                <a:latin typeface="Aptos"/>
              </a:rPr>
              <a:t>The project first identifies the most recent available year and compares total emissions across countries.
Business meaning: shows where the overall emission burden is concentrated.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90472"/>
            <a:ext cx="5257800" cy="1627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7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ECONOMIC BENCHMARKING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002536"/>
            <a:ext cx="492861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C1C1F"/>
                </a:solidFill>
                <a:latin typeface="Aptos"/>
              </a:rPr>
              <a:t>The latest GDP year is used to establish a high-level benchmark of economic scale.
Business meaning: creates context for interpreting energy demand and emissions.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01568"/>
            <a:ext cx="5257800" cy="1627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538728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SUPPLY vs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13632"/>
            <a:ext cx="492861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C1C1F"/>
                </a:solidFill>
                <a:latin typeface="Aptos"/>
              </a:rPr>
              <a:t>Production and consumption are aligned at country + energy + year grain.
Business meaning: highlights whether energy supply and demand move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401568"/>
            <a:ext cx="5257800" cy="1627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79" y="3538728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ENERGY-TYPE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913632"/>
            <a:ext cx="492861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0">
                <a:solidFill>
                  <a:srgbClr val="1C1C1F"/>
                </a:solidFill>
                <a:latin typeface="Aptos"/>
              </a:rPr>
              <a:t>Emissions are aggregated by energy type across all countries.
Business meaning: shows which energy categories are most important to the overall emission profile.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4132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C1C1F"/>
                </a:solidFill>
                <a:latin typeface="Aptos"/>
              </a:rPr>
              <a:t>Interpretation principle: these analyses answer “How large?”, “Where?”, and “Which energy categories?” before deeper trend and ratio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8. Analysis Area II — Trend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How the project studies direction and change across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0744200" cy="62179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0934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GLOBAL EMISSIONS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81912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1C1C1F"/>
                </a:solidFill>
                <a:latin typeface="Aptos"/>
              </a:rPr>
              <a:t>Year-wise total emissions reveal whether the global level is moving up or down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86000"/>
            <a:ext cx="10744200" cy="62179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1401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GDP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86584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1C1C1F"/>
                </a:solidFill>
                <a:latin typeface="Aptos"/>
              </a:rPr>
              <a:t>Country-level GDP history provides an economic timeline for comparison with energy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90672"/>
            <a:ext cx="10744200" cy="62179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2186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POPULATION + EMISSIONS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91256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1C1C1F"/>
                </a:solidFill>
                <a:latin typeface="Aptos"/>
              </a:rPr>
              <a:t>Population growth is examined alongside emission changes to separate scale effects from intensity effects.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95344"/>
            <a:ext cx="10744200" cy="62179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02335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CONSUMPTION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95928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1C1C1F"/>
                </a:solidFill>
                <a:latin typeface="Aptos"/>
              </a:rPr>
              <a:t>Major-economy consumption is compared year by year to identify sustained increases or decreases.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00016"/>
            <a:ext cx="10744200" cy="621792"/>
          </a:xfrm>
          <a:prstGeom prst="roundRect">
            <a:avLst/>
          </a:prstGeom>
          <a:solidFill>
            <a:srgbClr val="F7F8FA"/>
          </a:solidFill>
          <a:ln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8280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51F27"/>
                </a:solidFill>
                <a:latin typeface="Aptos"/>
              </a:rPr>
              <a:t>PER-CAPITA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8183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1C1C1F"/>
                </a:solidFill>
                <a:latin typeface="Aptos"/>
              </a:rPr>
              <a:t>The yearly difference in per-capita emissions highlights direction of improvement or deterioration.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62356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5C5C62"/>
                </a:solidFill>
                <a:latin typeface="Aptos"/>
              </a:rPr>
              <a:t>Analytical mechanism: year-wise aggregation + LAG() makes the change from the previous year explicit.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9. Analysis Area III — Ratios, Per-Capita &amp; Global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Normalization and global context make cross-country comparisons more meaningful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90472"/>
            <a:ext cx="5257800" cy="193852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NORMALIZED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4928616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>
                <a:solidFill>
                  <a:srgbClr val="1C1C1F"/>
                </a:solidFill>
                <a:latin typeface="Aptos"/>
              </a:rPr>
              <a:t>•  Emission-to-GDP ratio — relates environmental burden to economic output.
•  Consumption per capita — adjusts energy demand for population size.
•  Production per capita — compares energy supply on a population-adjusted basis.
•  Consumption relative to GDP — links energy demand to economic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90472"/>
            <a:ext cx="5257800" cy="193852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79" y="1627631"/>
            <a:ext cx="49286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GLOBAL COMPARISONS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002536"/>
            <a:ext cx="4928616" cy="131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0" b="0">
                <a:solidFill>
                  <a:srgbClr val="1C1C1F"/>
                </a:solidFill>
                <a:latin typeface="Aptos"/>
              </a:rPr>
              <a:t>•  Compare the most populous countries with their total emissions.
•  Track changes in per-capita emissions over the last decade.
•  Calculate each country’s share of global emissions.
•  Summarize yearly global averages for GDP, emissions and population.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22191"/>
            <a:ext cx="10789920" cy="16642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59352"/>
            <a:ext cx="104607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51F27"/>
                </a:solidFill>
                <a:latin typeface="Aptos"/>
              </a:rPr>
              <a:t>HOW TO READ THE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34256"/>
            <a:ext cx="10460736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C1C1F"/>
                </a:solidFill>
                <a:latin typeface="Aptos"/>
              </a:rPr>
              <a:t>Totals show overall scale. Per-capita metrics show population-adjusted intensity. GDP ratios add an economic denominator. Global shares show how much of the total is associated with each country. Together, these views reduce the risk of interpreting a country from only one metric.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101498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1F27"/>
                </a:solidFill>
                <a:latin typeface="Aptos"/>
              </a:rPr>
              <a:t>10. Conclusion, Challenges &amp; 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24128"/>
            <a:ext cx="1234440" cy="54864"/>
          </a:xfrm>
          <a:prstGeom prst="rect">
            <a:avLst/>
          </a:prstGeom>
          <a:solidFill>
            <a:srgbClr val="E5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5C62"/>
                </a:solidFill>
                <a:latin typeface="Aptos"/>
              </a:rPr>
              <a:t>Overall learning from the project and how the analysis can be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90472"/>
            <a:ext cx="3456432" cy="3931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3127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3127248" cy="3310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C1C1F"/>
                </a:solidFill>
                <a:latin typeface="Aptos"/>
              </a:rPr>
              <a:t>•  Six related tables create a unified energy–economy–population–emissions view.
•  The project moves from raw records to comparisons, trends and normalized measures.
•  The key value of SQL is the reasoning: choose the correct grain, relationship, aggregation and metric for each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490472"/>
            <a:ext cx="3456432" cy="3931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1627631"/>
            <a:ext cx="31272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CHALLENGES FACED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002536"/>
            <a:ext cx="3127248" cy="3310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C1C1F"/>
                </a:solidFill>
                <a:latin typeface="Aptos"/>
              </a:rPr>
              <a:t>•  Multiple valid SQL approaches can answer the same question.
•  Country and year alignment must remain consistent across tables.
•  Totals, ratios and per-capita metrics answer different types of questions.
•  The presentation must explain the meaning of results, not just show 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90472"/>
            <a:ext cx="3429000" cy="3931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E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27631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E51F27"/>
                </a:solidFill>
                <a:latin typeface="Aptos"/>
              </a:rPr>
              <a:t>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02536"/>
            <a:ext cx="3099816" cy="3310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0">
                <a:solidFill>
                  <a:srgbClr val="1C1C1F"/>
                </a:solidFill>
                <a:latin typeface="Aptos"/>
              </a:rPr>
              <a:t>•  Connect the database to Power BI for interactive exploration.
•  Add data-quality checks for missing and duplicate country-year records.
•  Extend analysis by region and renewable/non-renewable categories.
•  Automate data refreshes and optimize frequent joins with indexes/views.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596128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1C1C1F"/>
                </a:solidFill>
                <a:latin typeface="Aptos"/>
              </a:rPr>
              <a:t>Overall takeaway: the project demonstrates how SQL can connect multiple dimensions of energy data and turn them into a structured analytical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993392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E51F27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249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C1C1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C5C62"/>
                </a:solidFill>
                <a:latin typeface="Aptos"/>
              </a:rPr>
              <a:t>World Wide Energy Consumption
SQL Project</a:t>
            </a:r>
          </a:p>
        </p:txBody>
      </p:sp>
      <p:pic>
        <p:nvPicPr>
          <p:cNvPr id="5" name="Picture 4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389120" cy="2785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09160"/>
            <a:ext cx="52120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100" b="1" dirty="0">
                <a:solidFill>
                  <a:srgbClr val="1C1C1F"/>
                </a:solidFill>
                <a:latin typeface="Aptos"/>
              </a:rPr>
              <a:t>Kumar Pradeep•  CSE   •  2023–2027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5C62"/>
                </a:solidFill>
                <a:latin typeface="Aptos"/>
              </a:rPr>
              <a:t>WORLD WIDE ENERGY CONSUMPTION • SQL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5C6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1710</Words>
  <Application>Microsoft Office PowerPoint</Application>
  <PresentationFormat>Widescreen</PresentationFormat>
  <Paragraphs>204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kumar pradeep Emmadisetty</cp:lastModifiedBy>
  <cp:revision>1</cp:revision>
  <dcterms:created xsi:type="dcterms:W3CDTF">2021-02-16T05:19:01Z</dcterms:created>
  <dcterms:modified xsi:type="dcterms:W3CDTF">2026-10-07T15:30:42Z</dcterms:modified>
</cp:coreProperties>
</file>